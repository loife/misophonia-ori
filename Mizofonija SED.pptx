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EDEA767-A2D9-4F3C-962A-BEC2EEAD9A82}">
  <a:tblStyle styleId="{EEDEA767-A2D9-4F3C-962A-BEC2EEAD9A8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22" Type="http://schemas.openxmlformats.org/officeDocument/2006/relationships/slide" Target="slides/slide16.xml"/><Relationship Id="rId10" Type="http://schemas.openxmlformats.org/officeDocument/2006/relationships/slide" Target="slides/slide4.xml"/><Relationship Id="rId21" Type="http://schemas.openxmlformats.org/officeDocument/2006/relationships/slide" Target="slides/slide15.xml"/><Relationship Id="rId13" Type="http://schemas.openxmlformats.org/officeDocument/2006/relationships/slide" Target="slides/slide7.xml"/><Relationship Id="rId24" Type="http://schemas.openxmlformats.org/officeDocument/2006/relationships/slide" Target="slides/slide18.xml"/><Relationship Id="rId12" Type="http://schemas.openxmlformats.org/officeDocument/2006/relationships/slide" Target="slides/slide6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f0e5d2145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f0e5d2145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f0e5d2145a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f0e5d2145a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f0e5d2145a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f0e5d2145a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0e5d2145a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0e5d2145a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f0e5d2145a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f0e5d2145a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f0e5d2145a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f0e5d2145a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f0e5d2145a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f0e5d2145a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f0e5d2145a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f0e5d2145a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f0e5d2145a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f0e5d2145a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f0e5d2145a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f0e5d2145a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f0e5d2145a_0_3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f0e5d2145a_0_3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f0e5d2145a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f0e5d2145a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f0e5d2145a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f0e5d2145a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f0e5d2145a_0_2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f0e5d2145a_0_2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f0e5d2145a_0_3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f0e5d2145a_0_3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f0e5d2145a_0_3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f0e5d2145a_0_3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f0e5d2145a_0_3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f0e5d2145a_0_3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15.png"/><Relationship Id="rId5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Mizofonija SED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Mizofonija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Mizofonija je poremećaj koji izaziva abnormalnu osetljivost na određene zvukove, najčešće one koje proizvode ljudi: žvakanje, disanje, gutanje, kašalj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Ovi zvukovi izazivaju jaku emocionalnu i psihološku reakciju, bes, gađenje, anksioznost, paniku, kao i fiziološke reakcije, lupanje srca, ubrzano disanje, mučnina itd.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Poremećaj postoji na spektrumu, gde oko 68% populacije ima simptome ispod kliničkog praga. Kod manjeg procenta ljudi simptomi imaju veoma negativan uticaj na život i mentalno zdravlje.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Cilj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Cilj ovog projekta je da se napravi model koji bi mogao da automatski detektuje zvuk žvakanja, koji je najčešći i naj-opšte-prisutniji okidač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Ovakav model bi se upotrebio tokom gledanja filmova, serija i ostalih videa i unapred bi upozorio korisnika o tome gde (ili da li) se u videu nalazi zvuk žvakanja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Dataset Strong - ELAN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4" name="Google Shape;7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37300" y="1828438"/>
            <a:ext cx="3811349" cy="2064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699" y="2875250"/>
            <a:ext cx="3120991" cy="1943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1699" y="1152476"/>
            <a:ext cx="3121001" cy="1759674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6"/>
          <p:cNvSpPr/>
          <p:nvPr/>
        </p:nvSpPr>
        <p:spPr>
          <a:xfrm>
            <a:off x="3865050" y="2779400"/>
            <a:ext cx="508500" cy="1200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6"/>
          <p:cNvSpPr/>
          <p:nvPr/>
        </p:nvSpPr>
        <p:spPr>
          <a:xfrm rot="5400000">
            <a:off x="3686000" y="2568800"/>
            <a:ext cx="277800" cy="192000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6"/>
          <p:cNvSpPr/>
          <p:nvPr/>
        </p:nvSpPr>
        <p:spPr>
          <a:xfrm flipH="1" rot="5400000">
            <a:off x="3698150" y="2906000"/>
            <a:ext cx="253500" cy="192000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Dataset Strong - Sinteza</a:t>
            </a:r>
            <a:endParaRPr/>
          </a:p>
        </p:txBody>
      </p:sp>
      <p:sp>
        <p:nvSpPr>
          <p:cNvPr id="85" name="Google Shape;85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6" name="Google Shape;8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221" y="1244325"/>
            <a:ext cx="2400450" cy="1849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6225" y="3368877"/>
            <a:ext cx="3142438" cy="104865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7"/>
          <p:cNvSpPr/>
          <p:nvPr/>
        </p:nvSpPr>
        <p:spPr>
          <a:xfrm>
            <a:off x="3509875" y="2181625"/>
            <a:ext cx="924000" cy="1509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7"/>
          <p:cNvSpPr/>
          <p:nvPr/>
        </p:nvSpPr>
        <p:spPr>
          <a:xfrm>
            <a:off x="4500000" y="2049625"/>
            <a:ext cx="1367400" cy="414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Random augmentation</a:t>
            </a:r>
            <a:endParaRPr sz="1100"/>
          </a:p>
        </p:txBody>
      </p:sp>
      <p:sp>
        <p:nvSpPr>
          <p:cNvPr id="90" name="Google Shape;90;p17"/>
          <p:cNvSpPr/>
          <p:nvPr/>
        </p:nvSpPr>
        <p:spPr>
          <a:xfrm rot="5400000">
            <a:off x="6450025" y="1665025"/>
            <a:ext cx="318300" cy="1351500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7"/>
          <p:cNvSpPr/>
          <p:nvPr/>
        </p:nvSpPr>
        <p:spPr>
          <a:xfrm>
            <a:off x="6522375" y="2653225"/>
            <a:ext cx="1367400" cy="414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Combine</a:t>
            </a:r>
            <a:endParaRPr sz="1100"/>
          </a:p>
        </p:txBody>
      </p:sp>
      <p:sp>
        <p:nvSpPr>
          <p:cNvPr id="92" name="Google Shape;92;p17"/>
          <p:cNvSpPr/>
          <p:nvPr/>
        </p:nvSpPr>
        <p:spPr>
          <a:xfrm flipH="1" rot="5400000">
            <a:off x="5258425" y="1472875"/>
            <a:ext cx="318300" cy="3815400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Dataset Strong - MATA</a:t>
            </a:r>
            <a:endParaRPr/>
          </a:p>
        </p:txBody>
      </p:sp>
      <p:sp>
        <p:nvSpPr>
          <p:cNvPr id="98" name="Google Shape;98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9" name="Google Shape;9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23175" y="1180488"/>
            <a:ext cx="3497649" cy="3360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Dataset Weak</a:t>
            </a:r>
            <a:endParaRPr/>
          </a:p>
        </p:txBody>
      </p:sp>
      <p:sp>
        <p:nvSpPr>
          <p:cNvPr id="105" name="Google Shape;105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6" name="Google Shape;10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0" y="1733550"/>
            <a:ext cx="6096000" cy="167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</a:t>
            </a:r>
            <a:endParaRPr/>
          </a:p>
        </p:txBody>
      </p:sp>
      <p:sp>
        <p:nvSpPr>
          <p:cNvPr id="112" name="Google Shape;112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3" name="Google Shape;11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9121" y="1672000"/>
            <a:ext cx="5478776" cy="1459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37900" y="1479550"/>
            <a:ext cx="2781300" cy="2762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fPaSST</a:t>
            </a:r>
            <a:endParaRPr/>
          </a:p>
        </p:txBody>
      </p:sp>
      <p:sp>
        <p:nvSpPr>
          <p:cNvPr id="120" name="Google Shape;120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Vizuelni transformer primenjen na spektrogram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ViT-&gt;DeiT-&gt;AST-&gt;PaSST-&gt;fPaSST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Frame verzija PaSST</a:t>
            </a:r>
            <a:endParaRPr/>
          </a:p>
        </p:txBody>
      </p:sp>
      <p:pic>
        <p:nvPicPr>
          <p:cNvPr id="121" name="Google Shape;12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72163" y="1825863"/>
            <a:ext cx="3133725" cy="2162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Metrike</a:t>
            </a:r>
            <a:endParaRPr/>
          </a:p>
        </p:txBody>
      </p:sp>
      <p:sp>
        <p:nvSpPr>
          <p:cNvPr id="127" name="Google Shape;127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Strong: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b="1" lang="en"/>
              <a:t>pAUROC</a:t>
            </a:r>
            <a:r>
              <a:rPr lang="en"/>
              <a:t>, AUROC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Onset F-measure sa tolerancijama 500ms i 50ms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Segment 1s error rate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AP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Weak: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F1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AP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AUROC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Augmentacija</a:t>
            </a:r>
            <a:endParaRPr/>
          </a:p>
        </p:txBody>
      </p:sp>
      <p:sp>
        <p:nvSpPr>
          <p:cNvPr id="133" name="Google Shape;133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Mixup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MixStyle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Time rolling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Treniranje - dve glave</a:t>
            </a:r>
            <a:endParaRPr/>
          </a:p>
        </p:txBody>
      </p:sp>
      <p:sp>
        <p:nvSpPr>
          <p:cNvPr id="139" name="Google Shape;139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Strong glava korišćena na strongly-labeled dataset-u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Weak glava korišćena na weakly-labeled dataset-u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Treniranje - Strong dataset</a:t>
            </a:r>
            <a:endParaRPr/>
          </a:p>
        </p:txBody>
      </p:sp>
      <p:sp>
        <p:nvSpPr>
          <p:cNvPr id="145" name="Google Shape;145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6" name="Google Shape;146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5788" y="1205250"/>
            <a:ext cx="7092425" cy="3310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Zašto nije uradjen i weak deo?</a:t>
            </a:r>
            <a:endParaRPr/>
          </a:p>
        </p:txBody>
      </p:sp>
      <p:sp>
        <p:nvSpPr>
          <p:cNvPr id="152" name="Google Shape;152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3" name="Google Shape;153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2825" y="1200575"/>
            <a:ext cx="7096024" cy="3416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Rezultati</a:t>
            </a:r>
            <a:endParaRPr/>
          </a:p>
        </p:txBody>
      </p:sp>
      <p:sp>
        <p:nvSpPr>
          <p:cNvPr id="159" name="Google Shape;159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60" name="Google Shape;160;p27"/>
          <p:cNvGraphicFramePr/>
          <p:nvPr/>
        </p:nvGraphicFramePr>
        <p:xfrm>
          <a:off x="952500" y="2190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{EEDEA767-A2D9-4F3C-962A-BEC2EEAD9A82}</a:tableStyleId>
              </a:tblPr>
              <a:tblGrid>
                <a:gridCol w="2413000"/>
                <a:gridCol w="2413000"/>
                <a:gridCol w="2413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pAUROC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50ms onset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500ms onset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0.75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0.58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0.61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Deployment</a:t>
            </a:r>
            <a:endParaRPr/>
          </a:p>
        </p:txBody>
      </p:sp>
      <p:sp>
        <p:nvSpPr>
          <p:cNvPr id="166" name="Google Shape;166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67" name="Google Shape;167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584400"/>
            <a:ext cx="3501500" cy="2334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28000" y="1223900"/>
            <a:ext cx="3055300" cy="3055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Deployment</a:t>
            </a:r>
            <a:endParaRPr/>
          </a:p>
        </p:txBody>
      </p:sp>
      <p:sp>
        <p:nvSpPr>
          <p:cNvPr id="174" name="Google Shape;174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75" name="Google Shape;175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38250" y="1365013"/>
            <a:ext cx="6667498" cy="29913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0"/>
          <p:cNvSpPr txBox="1"/>
          <p:nvPr>
            <p:ph type="title"/>
          </p:nvPr>
        </p:nvSpPr>
        <p:spPr>
          <a:xfrm>
            <a:off x="311700" y="445025"/>
            <a:ext cx="8520600" cy="373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Hvala na pažnji!</a:t>
            </a:r>
            <a:endParaRPr sz="48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Pitanja?</a:t>
            </a:r>
            <a:endParaRPr sz="1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